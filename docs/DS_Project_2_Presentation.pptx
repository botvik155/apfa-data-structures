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02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100" b="1">
                <a:solidFill>
                  <a:srgbClr val="FFFFFF"/>
                </a:solidFill>
                <a:latin typeface="Calibri"/>
              </a:rPr>
              <a:t>Hostel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3D2F0"/>
                </a:solidFill>
                <a:latin typeface="Calibri"/>
              </a:rPr>
              <a:t>A Data Structures mini project in </a:t>
            </a:r>
            <a:r>
              <a:rPr sz="2200" b="1">
                <a:solidFill>
                  <a:srgbClr val="FFFFFF"/>
                </a:solidFill>
                <a:latin typeface="Calibri"/>
              </a:rPr>
              <a:t>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Arrays</a:t>
            </a:r>
            <a:r>
              <a:rPr sz="2100" b="0">
                <a:solidFill>
                  <a:srgbClr val="2F6FED"/>
                </a:solidFill>
                <a:latin typeface="Calibri"/>
              </a:rPr>
              <a:t>   •   </a:t>
            </a:r>
            <a:r>
              <a:rPr sz="2100" b="1">
                <a:solidFill>
                  <a:srgbClr val="FFFFFF"/>
                </a:solidFill>
                <a:latin typeface="Calibri"/>
              </a:rPr>
              <a:t>Stacks</a:t>
            </a:r>
            <a:r>
              <a:rPr sz="2100" b="0">
                <a:solidFill>
                  <a:srgbClr val="2F6FED"/>
                </a:solidFill>
                <a:latin typeface="Calibri"/>
              </a:rPr>
              <a:t>   •   </a:t>
            </a:r>
            <a:r>
              <a:rPr sz="2100" b="1">
                <a:solidFill>
                  <a:srgbClr val="FFFFFF"/>
                </a:solidFill>
                <a:latin typeface="Calibri"/>
              </a:rPr>
              <a:t>Strings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9BEE4"/>
                </a:solidFill>
                <a:latin typeface="Calibri"/>
              </a:rPr>
              <a:t>DS Project 2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9BEE4"/>
                </a:solidFill>
                <a:latin typeface="Calibri"/>
              </a:rPr>
              <a:t>Console menu  +  web interface (HTML &amp; CSS) on localhost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9BEE4"/>
                </a:solidFill>
                <a:latin typeface="Calibri"/>
              </a:rPr>
              <a:t>No external libraries — every data structure written by 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Project and Its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50" b="1">
                <a:solidFill>
                  <a:srgbClr val="12356F"/>
                </a:solidFill>
                <a:latin typeface="Calibri"/>
              </a:rPr>
              <a:t>Goal: </a:t>
            </a:r>
            <a:r>
              <a:rPr sz="1650" b="0">
                <a:solidFill>
                  <a:srgbClr val="1A1A1A"/>
                </a:solidFill>
                <a:latin typeface="Calibri"/>
              </a:rPr>
              <a:t>manage hostel student records — add, display, search, delete, undo a delete and sort by name — while implementing the data structures </a:t>
            </a:r>
            <a:r>
              <a:rPr sz="1650" b="1">
                <a:solidFill>
                  <a:srgbClr val="12356F"/>
                </a:solidFill>
                <a:latin typeface="Calibri"/>
              </a:rPr>
              <a:t>by hand</a:t>
            </a:r>
            <a:r>
              <a:rPr sz="1650" b="0">
                <a:solidFill>
                  <a:srgbClr val="1A1A1A"/>
                </a:solidFill>
                <a:latin typeface="Calibri"/>
              </a:rPr>
              <a:t> instead of using ready-made containers.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512064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Where it is used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Why this one was chosen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students[100] holds every record, with count_ tracking how many are in use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Records need indexed access and ordered display, and the maximum is known in advance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Deleted records are pushed here; Undo pops the top one back into the array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Undo must reverse the most recent action first — that is exactly LIFO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Name and course fields; case-insensitive search and alphabetical sorting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A1A1A"/>
                          </a:solidFill>
                          <a:latin typeface="Calibri"/>
                        </a:rPr>
                        <a:t>Text needs character-level comparison, which std::string supports directly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486400"/>
            <a:ext cx="11155680" cy="804672"/>
          </a:xfrm>
          <a:prstGeom prst="rect">
            <a:avLst/>
          </a:prstGeom>
          <a:solidFill>
            <a:srgbClr val="ECFDF3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F7A38"/>
                </a:solidFill>
                <a:latin typeface="Calibri"/>
              </a:rPr>
              <a:t>The key point: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stack is not decoration. Undo has to reverse the </a:t>
            </a:r>
            <a:r>
              <a:rPr sz="1600" b="1">
                <a:solidFill>
                  <a:srgbClr val="1A1A1A"/>
                </a:solidFill>
                <a:latin typeface="Calibri"/>
              </a:rPr>
              <a:t>most recent</a:t>
            </a:r>
            <a:r>
              <a:rPr sz="1600" b="0">
                <a:solidFill>
                  <a:srgbClr val="1A1A1A"/>
                </a:solidFill>
                <a:latin typeface="Calibri"/>
              </a:rPr>
              <a:t> deletion first. A queue would be wrong — it would undo the </a:t>
            </a:r>
            <a:r>
              <a:rPr sz="1600" b="1">
                <a:solidFill>
                  <a:srgbClr val="1A1A1A"/>
                </a:solidFill>
                <a:latin typeface="Calibri"/>
              </a:rPr>
              <a:t>oldest</a:t>
            </a:r>
            <a:r>
              <a:rPr sz="1600" b="0">
                <a:solidFill>
                  <a:srgbClr val="1A1A1A"/>
                </a:solidFill>
                <a:latin typeface="Calibri"/>
              </a:rPr>
              <a:t> one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Array — Storing the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349240" cy="3858768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0292" cy="385876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16736"/>
            <a:ext cx="5038344" cy="3675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Student students[MAX];   </a:t>
            </a:r>
            <a:r>
              <a:rPr sz="1350">
                <a:solidFill>
                  <a:srgbClr val="7EC99B"/>
                </a:solidFill>
                <a:latin typeface="Consolas"/>
              </a:rPr>
              <a:t>// MAX = 100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int count_ = 0;          </a:t>
            </a:r>
            <a:r>
              <a:rPr sz="1350">
                <a:solidFill>
                  <a:srgbClr val="7EC99B"/>
                </a:solidFill>
                <a:latin typeface="Consolas"/>
              </a:rPr>
              <a:t>// how many are used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bool addStudent(int roll, string name,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        string course, int room)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if (count_ &gt;= MAX)   return false;  </a:t>
            </a:r>
            <a:r>
              <a:rPr sz="1350">
                <a:solidFill>
                  <a:srgbClr val="7EC99B"/>
                </a:solidFill>
                <a:latin typeface="Consolas"/>
              </a:rPr>
              <a:t>// full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if (findStudent(roll) != -1)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return false;    </a:t>
            </a:r>
            <a:r>
              <a:rPr sz="1350">
                <a:solidFill>
                  <a:srgbClr val="7EC99B"/>
                </a:solidFill>
                <a:latin typeface="Consolas"/>
              </a:rPr>
              <a:t>// duplicate roll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students[count_].roll   = roll;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students[count_].name   = name;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students[count_].course = course;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students[count_].room   = room;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count_++;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return true;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05356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627632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Insert </a:t>
            </a:r>
            <a:r>
              <a:rPr sz="1550" b="0">
                <a:solidFill>
                  <a:srgbClr val="1A1A1A"/>
                </a:solidFill>
                <a:latin typeface="Calibri"/>
              </a:rPr>
              <a:t>puts the record at index count_ and increments it — O(1), no shifting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396998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319274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count_ </a:t>
            </a:r>
            <a:r>
              <a:rPr sz="1550" b="0">
                <a:solidFill>
                  <a:srgbClr val="1A1A1A"/>
                </a:solidFill>
                <a:latin typeface="Calibri"/>
              </a:rPr>
              <a:t>is the logical size, kept separate from the physical capacity of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088640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3010916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Two checks first: </a:t>
            </a:r>
            <a:r>
              <a:rPr sz="1550" b="0">
                <a:solidFill>
                  <a:srgbClr val="1A1A1A"/>
                </a:solidFill>
                <a:latin typeface="Calibri"/>
              </a:rPr>
              <a:t>the array must not be full, and the roll number must not already exist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780282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3702558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Search </a:t>
            </a:r>
            <a:r>
              <a:rPr sz="1550" b="0">
                <a:solidFill>
                  <a:srgbClr val="1A1A1A"/>
                </a:solidFill>
                <a:latin typeface="Calibri"/>
              </a:rPr>
              <a:t>walks index 0 to count_-1 — a linear search, O(n)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92397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4114673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findStudent() returns the index</a:t>
            </a:r>
            <a:r>
              <a:rPr sz="1550" b="0">
                <a:solidFill>
                  <a:srgbClr val="1A1A1A"/>
                </a:solidFill>
                <a:latin typeface="Calibri"/>
              </a:rPr>
              <a:t>, not the record, because deletion needs to know where it 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29200"/>
            <a:ext cx="5394960" cy="868680"/>
          </a:xfrm>
          <a:prstGeom prst="rect">
            <a:avLst/>
          </a:prstGeom>
          <a:solidFill>
            <a:srgbClr val="F3F6FB"/>
          </a:solidFill>
          <a:ln w="15875">
            <a:solidFill>
              <a:srgbClr val="D3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5166360"/>
            <a:ext cx="5029200" cy="722376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5166360"/>
            <a:ext cx="50292" cy="72237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5294376"/>
            <a:ext cx="4718304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for (int i = 0; i &lt; count_; i++)      </a:t>
            </a:r>
            <a:r>
              <a:rPr sz="1250">
                <a:solidFill>
                  <a:srgbClr val="7EC99B"/>
                </a:solidFill>
                <a:latin typeface="Consolas"/>
              </a:rPr>
              <a:t>// linear search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if (students[i].roll == roll) return i;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Stack — Remembering Deletions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349240" cy="3634739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0292" cy="3634739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16736"/>
            <a:ext cx="5038344" cy="34518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Student stack_[MAX];   </a:t>
            </a:r>
            <a:r>
              <a:rPr sz="1350">
                <a:solidFill>
                  <a:srgbClr val="7EC99B"/>
                </a:solidFill>
                <a:latin typeface="Consolas"/>
              </a:rPr>
              <a:t>// the stack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int top_ = -1;         </a:t>
            </a:r>
            <a:r>
              <a:rPr sz="1350">
                <a:solidFill>
                  <a:srgbClr val="7EC99B"/>
                </a:solidFill>
                <a:latin typeface="Consolas"/>
              </a:rPr>
              <a:t>// -1 means empty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void push(Student 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if (top_ &lt; MAX - 1) {   </a:t>
            </a:r>
            <a:r>
              <a:rPr sz="1350">
                <a:solidFill>
                  <a:srgbClr val="7EC99B"/>
                </a:solidFill>
                <a:latin typeface="Consolas"/>
              </a:rPr>
              <a:t>// overflow check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top_++;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stack_[top_] = 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Student pop()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Student s = stack_[top_];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top_--;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return 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ARRAY IMPLEMENTATION OF A STACK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600200"/>
          <a:ext cx="5394958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726"/>
                <a:gridCol w="3123397"/>
                <a:gridCol w="851835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push(s)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top_++ then store at that index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pop()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read at top_ then top_--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stackEmpty()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true when top_ == -1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63640" y="3506724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3429000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Overflow </a:t>
            </a:r>
            <a:r>
              <a:rPr sz="1550" b="0">
                <a:solidFill>
                  <a:srgbClr val="1A1A1A"/>
                </a:solidFill>
                <a:latin typeface="Calibri"/>
              </a:rPr>
              <a:t>= pushing onto a full stack, blocked by top_ &lt; MAX-1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18839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3841115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Underflow </a:t>
            </a:r>
            <a:r>
              <a:rPr sz="1550" b="0">
                <a:solidFill>
                  <a:srgbClr val="1A1A1A"/>
                </a:solidFill>
                <a:latin typeface="Calibri"/>
              </a:rPr>
              <a:t>= popping an empty stack, blocked by top_ == 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330954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4253230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Both checked before </a:t>
            </a:r>
            <a:r>
              <a:rPr sz="1550" b="0">
                <a:solidFill>
                  <a:srgbClr val="1A1A1A"/>
                </a:solidFill>
                <a:latin typeface="Calibri"/>
              </a:rPr>
              <a:t>the array is touched, so memory outside it is never accessed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022596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4944872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2356F"/>
                </a:solidFill>
                <a:latin typeface="Calibri"/>
              </a:rPr>
              <a:t>top_ starts at -1 </a:t>
            </a:r>
            <a:r>
              <a:rPr sz="1550" b="0">
                <a:solidFill>
                  <a:srgbClr val="1A1A1A"/>
                </a:solidFill>
                <a:latin typeface="Calibri"/>
              </a:rPr>
              <a:t>because an empty stack has no valid top index; size is always top_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Strings — Searching and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CASE-INSENSITIVE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349240" cy="2738627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292" cy="2738627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28216"/>
            <a:ext cx="5038344" cy="25557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string toLower(string 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for (int i = 0; i &lt; s.size(); i++)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if (s[i] &gt;= 'A' &amp;&amp; s[i] &lt;= 'Z')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s[i] = s[i] + 32;   </a:t>
            </a:r>
            <a:r>
              <a:rPr sz="1350">
                <a:solidFill>
                  <a:srgbClr val="7EC99B"/>
                </a:solidFill>
                <a:latin typeface="Consolas"/>
              </a:rPr>
              <a:t>// 'A'=65 'a'=97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return 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bool contains(string text, string key)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return toLower(text).find(toLower(key))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 != string::npos;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26280"/>
            <a:ext cx="5349240" cy="731520"/>
          </a:xfrm>
          <a:prstGeom prst="rect">
            <a:avLst/>
          </a:prstGeom>
          <a:solidFill>
            <a:srgbClr val="F3F6FB"/>
          </a:solidFill>
          <a:ln w="15875">
            <a:solidFill>
              <a:srgbClr val="D3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9087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This is why typing </a:t>
            </a:r>
            <a:r>
              <a:rPr sz="1400" b="1">
                <a:solidFill>
                  <a:srgbClr val="12356F"/>
                </a:solidFill>
                <a:latin typeface="Calibri"/>
              </a:rPr>
              <a:t>bca</a:t>
            </a:r>
            <a:r>
              <a:rPr sz="1400" b="0">
                <a:solidFill>
                  <a:srgbClr val="1A1A1A"/>
                </a:solidFill>
                <a:latin typeface="Calibri"/>
              </a:rPr>
              <a:t> also finds </a:t>
            </a:r>
            <a:r>
              <a:rPr sz="1400" b="1">
                <a:solidFill>
                  <a:srgbClr val="12356F"/>
                </a:solidFill>
                <a:latin typeface="Calibri"/>
              </a:rPr>
              <a:t>BCA</a:t>
            </a:r>
            <a:r>
              <a:rPr sz="1400" b="0">
                <a:solidFill>
                  <a:srgbClr val="1A1A1A"/>
                </a:solidFill>
                <a:latin typeface="Calibri"/>
              </a:rPr>
              <a:t>. The stored data is never changed — only the copies used for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SORTING BY NAME (BUBBLE SORT)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00200"/>
            <a:ext cx="5349240" cy="251460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50292" cy="2514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28216"/>
            <a:ext cx="5038344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void sortByName()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for (int i = 0; i &lt; count_-1; i++)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for (int j = 0; j &lt; count_-1-i; j++)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if (toLower(students[j].name) 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toLower(students[j+1].name))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Student t     = students[j];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students[j]   = students[j+1];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students[j+1] = t;      </a:t>
            </a:r>
            <a:r>
              <a:rPr sz="1350">
                <a:solidFill>
                  <a:srgbClr val="7EC99B"/>
                </a:solidFill>
                <a:latin typeface="Consolas"/>
              </a:rPr>
              <a:t>// swap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315968"/>
            <a:ext cx="5349240" cy="941832"/>
          </a:xfrm>
          <a:prstGeom prst="rect">
            <a:avLst/>
          </a:prstGeom>
          <a:solidFill>
            <a:srgbClr val="F3F6FB"/>
          </a:solidFill>
          <a:ln w="15875">
            <a:solidFill>
              <a:srgbClr val="D3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448056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</a:t>
            </a:r>
            <a:r>
              <a:rPr sz="1400" b="1">
                <a:solidFill>
                  <a:srgbClr val="12356F"/>
                </a:solidFill>
                <a:latin typeface="Calibri"/>
              </a:rPr>
              <a:t>&gt;</a:t>
            </a:r>
            <a:r>
              <a:rPr sz="1400" b="0">
                <a:solidFill>
                  <a:srgbClr val="1A1A1A"/>
                </a:solidFill>
                <a:latin typeface="Calibri"/>
              </a:rPr>
              <a:t> operator on std::string compares </a:t>
            </a:r>
            <a:r>
              <a:rPr sz="1400" b="1">
                <a:solidFill>
                  <a:srgbClr val="12356F"/>
                </a:solidFill>
                <a:latin typeface="Calibri"/>
              </a:rPr>
              <a:t>lexicographically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character by character, like a dictionary. Nested loops make this </a:t>
            </a:r>
            <a:r>
              <a:rPr sz="1400" b="1">
                <a:solidFill>
                  <a:srgbClr val="12356F"/>
                </a:solidFill>
                <a:latin typeface="Calibri"/>
              </a:rPr>
              <a:t>O(n²)</a:t>
            </a:r>
            <a:r>
              <a:rPr sz="14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One search box covers all three fields: it also matches the roll number typed as text, using </a:t>
            </a:r>
            <a:r>
              <a:rPr sz="1500" b="1">
                <a:solidFill>
                  <a:srgbClr val="12356F"/>
                </a:solidFill>
                <a:latin typeface="Calibri"/>
              </a:rPr>
              <a:t>to_string()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Deletion and Undo — Both Structures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5852160" cy="2738627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50292" cy="273862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98448"/>
            <a:ext cx="5541264" cy="25557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bool deleteStudent(int roll)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int i = findStudent(roll);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if (i == -1) return false;   </a:t>
            </a:r>
            <a:r>
              <a:rPr sz="1350">
                <a:solidFill>
                  <a:srgbClr val="7EC99B"/>
                </a:solidFill>
                <a:latin typeface="Consolas"/>
              </a:rPr>
              <a:t>// not found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push(students[i]);      </a:t>
            </a:r>
            <a:r>
              <a:rPr sz="1350">
                <a:solidFill>
                  <a:srgbClr val="7EC99B"/>
                </a:solidFill>
                <a:latin typeface="Consolas"/>
              </a:rPr>
              <a:t>// STACK: save first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for (int j = i; j &lt; count_-1; j++)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students[j] = students[j+1];  </a:t>
            </a:r>
            <a:r>
              <a:rPr sz="1350">
                <a:solidFill>
                  <a:srgbClr val="7EC99B"/>
                </a:solidFill>
                <a:latin typeface="Consolas"/>
              </a:rPr>
              <a:t>// shift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count_--;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return true;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13632"/>
            <a:ext cx="5852160" cy="233172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59936"/>
            <a:ext cx="553212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1">
                <a:solidFill>
                  <a:srgbClr val="9FB6E8"/>
                </a:solidFill>
                <a:latin typeface="Consolas"/>
              </a:rPr>
              <a:t>DELETING ROLL 102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before:  [101][102][103][104]   count_ = 4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8A93A5"/>
                </a:solidFill>
                <a:latin typeface="Consolas"/>
              </a:rPr>
              <a:t>                |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7EC99B"/>
                </a:solidFill>
                <a:latin typeface="Consolas"/>
              </a:rPr>
              <a:t>         push a copy onto the stack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shift:   [101][103][104][104]   move each left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after:   [101][103][104]        count_ = 3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 b="0">
                <a:solidFill>
                  <a:srgbClr val="F0B45C"/>
                </a:solidFill>
                <a:latin typeface="Consolas"/>
              </a:rPr>
              <a:t>stack:   | 102 |  &lt;-- top_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170432"/>
            <a:ext cx="4937760" cy="1618488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170432"/>
            <a:ext cx="50292" cy="161848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8" y="1298448"/>
            <a:ext cx="4626864" cy="1435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bool undoDelete()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if (stackEmpty()) return false;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Student s = pop();   </a:t>
            </a:r>
            <a:r>
              <a:rPr sz="1350">
                <a:solidFill>
                  <a:srgbClr val="7EC99B"/>
                </a:solidFill>
                <a:latin typeface="Consolas"/>
              </a:rPr>
              <a:t>// STACK: top one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return addStudent(s.roll, s.name,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                    s.course, s.room);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880360"/>
            <a:ext cx="4937760" cy="2240280"/>
          </a:xfrm>
          <a:prstGeom prst="rect">
            <a:avLst/>
          </a:prstGeom>
          <a:solidFill>
            <a:srgbClr val="F3F6FB"/>
          </a:solidFill>
          <a:ln w="15875">
            <a:solidFill>
              <a:srgbClr val="D3D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3035808"/>
            <a:ext cx="4572000" cy="196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1">
                <a:solidFill>
                  <a:srgbClr val="2F6FED"/>
                </a:solidFill>
                <a:latin typeface="Consolas"/>
              </a:rPr>
              <a:t>LIFO IN ACTION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12356F"/>
                </a:solidFill>
                <a:latin typeface="Consolas"/>
              </a:rPr>
              <a:t>delete 101, 102, 103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12356F"/>
                </a:solidFill>
                <a:latin typeface="Consolas"/>
              </a:rPr>
              <a:t>stack:  | 101 | 102 | 103 |  &lt;- top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0F7A38"/>
                </a:solidFill>
                <a:latin typeface="Consolas"/>
              </a:rPr>
              <a:t>undo -&gt; 103 back   (newest first)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0F7A38"/>
                </a:solidFill>
                <a:latin typeface="Consolas"/>
              </a:rPr>
              <a:t>undo -&gt; 102 back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0F7A38"/>
                </a:solidFill>
                <a:latin typeface="Consolas"/>
              </a:rPr>
              <a:t>undo -&gt; 101 back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300" b="0">
                <a:solidFill>
                  <a:srgbClr val="555F6D"/>
                </a:solidFill>
                <a:latin typeface="Consolas"/>
              </a:rPr>
              <a:t>undo -&gt; empty, nothing happens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5285232"/>
            <a:ext cx="4937760" cy="960120"/>
          </a:xfrm>
          <a:prstGeom prst="rect">
            <a:avLst/>
          </a:prstGeom>
          <a:solidFill>
            <a:srgbClr val="FFF7E6"/>
          </a:solidFill>
          <a:ln w="15875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5440680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8A5A00"/>
                </a:solidFill>
                <a:latin typeface="Calibri"/>
              </a:rPr>
              <a:t>The order matters.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record is pushed </a:t>
            </a:r>
            <a:r>
              <a:rPr sz="1400" b="1">
                <a:solidFill>
                  <a:srgbClr val="1A1A1A"/>
                </a:solidFill>
                <a:latin typeface="Calibri"/>
              </a:rPr>
              <a:t>before</a:t>
            </a:r>
            <a:r>
              <a:rPr sz="1400" b="0">
                <a:solidFill>
                  <a:srgbClr val="1A1A1A"/>
                </a:solidFill>
                <a:latin typeface="Calibri"/>
              </a:rPr>
              <a:t> the shift overwrites it — otherwise undo would restore the wrong student.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Running It, and How the Web UI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WEB VERSION  (use this for the demo)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5486400" cy="946403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17904"/>
            <a:ext cx="50292" cy="94640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45920"/>
            <a:ext cx="5175504" cy="7635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$ cd ds_project_2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$ make web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Server running -&gt; http:</a:t>
            </a:r>
            <a:r>
              <a:rPr sz="1400">
                <a:solidFill>
                  <a:srgbClr val="7EC99B"/>
                </a:solidFill>
                <a:latin typeface="Consolas"/>
              </a:rPr>
              <a:t>//localhost:8080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CONSOLE 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72384"/>
            <a:ext cx="5486400" cy="139446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72384"/>
            <a:ext cx="50292" cy="13944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200400"/>
            <a:ext cx="5175504" cy="121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$ make cli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1. Add student      5. Undo delete (stack)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2. Show all         6. Sort by name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3. Search student   7. Exit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9EF"/>
                </a:solidFill>
                <a:latin typeface="Consolas"/>
              </a:rPr>
              <a:t>4. Delete student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681728"/>
            <a:ext cx="5486400" cy="1005840"/>
          </a:xfrm>
          <a:prstGeom prst="rect">
            <a:avLst/>
          </a:prstGeom>
          <a:solidFill>
            <a:srgbClr val="FFF7E6"/>
          </a:solidFill>
          <a:ln w="15875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4632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8A5A00"/>
                </a:solidFill>
                <a:latin typeface="Calibri"/>
              </a:rPr>
              <a:t>Run it from inside the project folder.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server reads web/index.html by relative path, so starting it elsewhere gives a blank 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338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Needs only g++ and a browser — nothing to install.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1430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UI is </a:t>
            </a:r>
            <a:r>
              <a:rPr sz="1500" b="1">
                <a:solidFill>
                  <a:srgbClr val="12356F"/>
                </a:solidFill>
                <a:latin typeface="Calibri"/>
              </a:rPr>
              <a:t>HTML and CSS only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no JavaScript. Every button is a normal form or link.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5349240" cy="283464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502920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9FB6E8"/>
                </a:solidFill>
                <a:latin typeface="Consolas"/>
              </a:rPr>
              <a:t>browser              C++ server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GET /       ----&gt;  read index.html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7EC99B"/>
                </a:solidFill>
                <a:latin typeface="Consolas"/>
              </a:rPr>
              <a:t>            &lt;----  loop ARRAY -&gt; rows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7EC99B"/>
                </a:solidFill>
                <a:latin typeface="Consolas"/>
              </a:rPr>
              <a:t>                   loop STACK -&gt; list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7EC99B"/>
                </a:solidFill>
                <a:latin typeface="Consolas"/>
              </a:rPr>
              <a:t>                   fill {{ROWS}} etc.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/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POST /add   ----&gt;  addStudent()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GET /delete ----&gt;  shift + push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GET /undo   ----&gt;  pop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GET /sort   ----&gt;  string compare</a:t>
            </a:r>
          </a:p>
          <a:p>
            <a:pPr>
              <a:lnSpc>
                <a:spcPct val="116000"/>
              </a:lnSpc>
              <a:spcAft>
                <a:spcPts val="100"/>
              </a:spcAft>
            </a:pPr>
            <a:r>
              <a:rPr sz="1300">
                <a:solidFill>
                  <a:srgbClr val="E6E9EF"/>
                </a:solidFill>
                <a:latin typeface="Consolas"/>
              </a:rPr>
              <a:t>GET /?q=bca ----&gt;  string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846320"/>
            <a:ext cx="5349240" cy="1371600"/>
          </a:xfrm>
          <a:prstGeom prst="rect">
            <a:avLst/>
          </a:prstGeom>
          <a:solidFill>
            <a:srgbClr val="ECFDF3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5010912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0F7A38"/>
                </a:solidFill>
                <a:latin typeface="Calibri"/>
              </a:rPr>
              <a:t>Good for the demo: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page shows the stack itself, top marked </a:t>
            </a:r>
            <a:r>
              <a:rPr sz="1400" b="1">
                <a:solidFill>
                  <a:srgbClr val="12356F"/>
                </a:solidFill>
                <a:latin typeface="Calibri"/>
              </a:rPr>
              <a:t>TOP →</a:t>
            </a:r>
            <a:r>
              <a:rPr sz="1400" b="0">
                <a:solidFill>
                  <a:srgbClr val="1A1A1A"/>
                </a:solidFill>
                <a:latin typeface="Calibri"/>
              </a:rPr>
              <a:t>. Delete a student and it appears on the stack; press Undo and it disappears. The structure is visible on screen.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Results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108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9FB6E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TIME COMPLEXITY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54863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23774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Structures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Worst</a:t>
                      </a:r>
                    </a:p>
                  </a:txBody>
                  <a:tcPr marL="82296" marR="82296" marT="27432" marB="27432" anchor="ctr">
                    <a:solidFill>
                      <a:srgbClr val="12356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Add student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Array + String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Delete student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Array + Stack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Push / Pop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Undo delete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Stack + Array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Sort by name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Array + String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Consolas"/>
                        </a:rPr>
                        <a:t>O(n²)</a:t>
                      </a:r>
                    </a:p>
                  </a:txBody>
                  <a:tcPr marL="82296" marR="82296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8795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2356F"/>
                </a:solidFill>
                <a:latin typeface="Calibri"/>
              </a:rPr>
              <a:t>Space: </a:t>
            </a:r>
            <a:r>
              <a:rPr sz="1400" b="0">
                <a:solidFill>
                  <a:srgbClr val="1A1A1A"/>
                </a:solidFill>
                <a:latin typeface="Calibri"/>
              </a:rPr>
              <a:t>O(n) — one array of 100 records plus one stack of 100, allocated once. Push and pop are the only O(1) worst case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TESTING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36192"/>
            <a:ext cx="5349240" cy="566928"/>
          </a:xfrm>
          <a:prstGeom prst="rect">
            <a:avLst/>
          </a:prstGeom>
          <a:solidFill>
            <a:srgbClr val="ECFDF3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642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A38"/>
                </a:solidFill>
                <a:latin typeface="Calibri"/>
              </a:rPr>
              <a:t>12 test cases, all passing</a:t>
            </a:r>
            <a:r>
              <a:rPr sz="1500" b="0">
                <a:solidFill>
                  <a:srgbClr val="1A1A1A"/>
                </a:solidFill>
                <a:latin typeface="Calibri"/>
              </a:rPr>
              <a:t>  — in both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63724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5111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2356F"/>
                </a:solidFill>
                <a:latin typeface="Calibri"/>
              </a:rPr>
              <a:t>Duplicate roll numbers </a:t>
            </a:r>
            <a:r>
              <a:rPr sz="1450" b="0">
                <a:solidFill>
                  <a:srgbClr val="1A1A1A"/>
                </a:solidFill>
                <a:latin typeface="Calibri"/>
              </a:rPr>
              <a:t>are rejected, array unchanged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32405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654681"/>
            <a:ext cx="5111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2356F"/>
                </a:solidFill>
                <a:latin typeface="Calibri"/>
              </a:rPr>
              <a:t>Deleting from the middle </a:t>
            </a:r>
            <a:r>
              <a:rPr sz="1450" b="0">
                <a:solidFill>
                  <a:srgbClr val="1A1A1A"/>
                </a:solidFill>
                <a:latin typeface="Calibri"/>
              </a:rPr>
              <a:t>shifts later records left, no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101086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023362"/>
            <a:ext cx="5111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2356F"/>
                </a:solidFill>
                <a:latin typeface="Calibri"/>
              </a:rPr>
              <a:t>The deleted record </a:t>
            </a:r>
            <a:r>
              <a:rPr sz="1450" b="0">
                <a:solidFill>
                  <a:srgbClr val="1A1A1A"/>
                </a:solidFill>
                <a:latin typeface="Calibri"/>
              </a:rPr>
              <a:t>appears on top of the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69767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3392043"/>
            <a:ext cx="5111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2356F"/>
                </a:solidFill>
                <a:latin typeface="Calibri"/>
              </a:rPr>
              <a:t>Two deletes, two undos </a:t>
            </a:r>
            <a:r>
              <a:rPr sz="1450" b="0">
                <a:solidFill>
                  <a:srgbClr val="1A1A1A"/>
                </a:solidFill>
                <a:latin typeface="Calibri"/>
              </a:rPr>
              <a:t>restore in reverse order (LIFO)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38448"/>
            <a:ext cx="68580" cy="685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760724"/>
            <a:ext cx="5111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2356F"/>
                </a:solidFill>
                <a:latin typeface="Calibri"/>
              </a:rPr>
              <a:t>Undo on an empty stack </a:t>
            </a:r>
            <a:r>
              <a:rPr sz="1450" b="0">
                <a:solidFill>
                  <a:srgbClr val="1A1A1A"/>
                </a:solidFill>
                <a:latin typeface="Calibri"/>
              </a:rPr>
              <a:t>is handled safely, no crash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12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474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9FB6E8"/>
                </a:solidFill>
                <a:latin typeface="Calibri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Array</a:t>
            </a:r>
            <a:r>
              <a:rPr sz="1550" b="0">
                <a:solidFill>
                  <a:srgbClr val="C3D2F0"/>
                </a:solidFill>
                <a:latin typeface="Calibri"/>
              </a:rPr>
              <a:t> for indexed storage,  </a:t>
            </a:r>
            <a:r>
              <a:rPr sz="1550" b="1">
                <a:solidFill>
                  <a:srgbClr val="FFFFFF"/>
                </a:solidFill>
                <a:latin typeface="Calibri"/>
              </a:rPr>
              <a:t>Stack</a:t>
            </a:r>
            <a:r>
              <a:rPr sz="1550" b="0">
                <a:solidFill>
                  <a:srgbClr val="C3D2F0"/>
                </a:solidFill>
                <a:latin typeface="Calibri"/>
              </a:rPr>
              <a:t> for undo because undo is inherently LIFO,  </a:t>
            </a:r>
            <a:r>
              <a:rPr sz="1550" b="1">
                <a:solidFill>
                  <a:srgbClr val="FFFFFF"/>
                </a:solidFill>
                <a:latin typeface="Calibri"/>
              </a:rPr>
              <a:t>String</a:t>
            </a:r>
            <a:r>
              <a:rPr sz="1550" b="0">
                <a:solidFill>
                  <a:srgbClr val="C3D2F0"/>
                </a:solidFill>
                <a:latin typeface="Calibri"/>
              </a:rPr>
              <a:t> for case-insensitive search and sorting.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0">
                <a:solidFill>
                  <a:srgbClr val="C3D2F0"/>
                </a:solidFill>
                <a:latin typeface="Calibri"/>
              </a:rPr>
              <a:t>All three written from first principles, in one header — </a:t>
            </a:r>
            <a:r>
              <a:rPr sz="1550" b="1">
                <a:solidFill>
                  <a:srgbClr val="FFFFFF"/>
                </a:solidFill>
                <a:latin typeface="Calibri"/>
              </a:rPr>
              <a:t>src/hostel.h</a:t>
            </a:r>
            <a:r>
              <a:rPr sz="1550" b="0">
                <a:solidFill>
                  <a:srgbClr val="C3D2F0"/>
                </a:solidFill>
                <a:latin typeface="Calibri"/>
              </a:rPr>
              <a:t> — ready to reuse in a larger project. Next step: a queue for the room waiting 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Hostel Student Management System  |  Array, Stack, String  |  C++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F6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