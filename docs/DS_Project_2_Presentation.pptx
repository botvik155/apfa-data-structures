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029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100" b="1">
                <a:solidFill>
                  <a:srgbClr val="FFFFFF"/>
                </a:solidFill>
                <a:latin typeface="Calibri"/>
              </a:rPr>
              <a:t>Hostel Student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8036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C3D2F0"/>
                </a:solidFill>
                <a:latin typeface="Calibri"/>
              </a:rPr>
              <a:t>A Data Structures mini project in </a:t>
            </a:r>
            <a:r>
              <a:rPr sz="2200" b="1">
                <a:solidFill>
                  <a:srgbClr val="FFFFFF"/>
                </a:solidFill>
                <a:latin typeface="Calibri"/>
              </a:rPr>
              <a:t>C++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0156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Arrays</a:t>
            </a:r>
            <a:r>
              <a:rPr sz="2100" b="0">
                <a:solidFill>
                  <a:srgbClr val="2F6FED"/>
                </a:solidFill>
                <a:latin typeface="Calibri"/>
              </a:rPr>
              <a:t>   •   </a:t>
            </a:r>
            <a:r>
              <a:rPr sz="2100" b="1">
                <a:solidFill>
                  <a:srgbClr val="FFFFFF"/>
                </a:solidFill>
                <a:latin typeface="Calibri"/>
              </a:rPr>
              <a:t>Stacks</a:t>
            </a:r>
            <a:r>
              <a:rPr sz="2100" b="0">
                <a:solidFill>
                  <a:srgbClr val="2F6FED"/>
                </a:solidFill>
                <a:latin typeface="Calibri"/>
              </a:rPr>
              <a:t>   •   </a:t>
            </a:r>
            <a:r>
              <a:rPr sz="2100" b="1">
                <a:solidFill>
                  <a:srgbClr val="FFFFFF"/>
                </a:solidFill>
                <a:latin typeface="Calibri"/>
              </a:rPr>
              <a:t>Strings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1772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A9BEE4"/>
                </a:solidFill>
                <a:latin typeface="Calibri"/>
              </a:rPr>
              <a:t>DS Project 2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A9BEE4"/>
                </a:solidFill>
                <a:latin typeface="Calibri"/>
              </a:rPr>
              <a:t>Console menu  +  web interface (HTML &amp; CSS) on localhost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A9BEE4"/>
                </a:solidFill>
                <a:latin typeface="Calibri"/>
              </a:rPr>
              <a:t>No external libraries — every data structure written by hand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the Project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12356F"/>
                </a:solidFill>
                <a:latin typeface="Calibri"/>
              </a:rPr>
              <a:t>Goal: </a:t>
            </a:r>
            <a:r>
              <a:rPr sz="1700" b="0">
                <a:solidFill>
                  <a:srgbClr val="1A1A1A"/>
                </a:solidFill>
                <a:latin typeface="Calibri"/>
              </a:rPr>
              <a:t>manage hostel student records while implementing the basic data structures by hand, instead of using ready-made containers from the C++ standard library.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5394960" cy="3200400"/>
          </a:xfrm>
          <a:prstGeom prst="rect">
            <a:avLst/>
          </a:prstGeom>
          <a:solidFill>
            <a:srgbClr val="F3F6FB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591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FEATURES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866644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788920"/>
            <a:ext cx="4608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Add</a:t>
            </a:r>
            <a:r>
              <a:rPr sz="1550" b="0">
                <a:solidFill>
                  <a:srgbClr val="1A1A1A"/>
                </a:solidFill>
                <a:latin typeface="Calibri"/>
              </a:rPr>
              <a:t> a student record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3359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3175635"/>
            <a:ext cx="4608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Display</a:t>
            </a:r>
            <a:r>
              <a:rPr sz="1550" b="0">
                <a:solidFill>
                  <a:srgbClr val="1A1A1A"/>
                </a:solidFill>
                <a:latin typeface="Calibri"/>
              </a:rPr>
              <a:t> all students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640074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3562350"/>
            <a:ext cx="4608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Search</a:t>
            </a:r>
            <a:r>
              <a:rPr sz="1550" b="0">
                <a:solidFill>
                  <a:srgbClr val="1A1A1A"/>
                </a:solidFill>
                <a:latin typeface="Calibri"/>
              </a:rPr>
              <a:t> by name, course or roll number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026789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3949065"/>
            <a:ext cx="4608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Delete</a:t>
            </a:r>
            <a:r>
              <a:rPr sz="1550" b="0">
                <a:solidFill>
                  <a:srgbClr val="1A1A1A"/>
                </a:solidFill>
                <a:latin typeface="Calibri"/>
              </a:rPr>
              <a:t> a student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413504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335780"/>
            <a:ext cx="4608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Undo</a:t>
            </a:r>
            <a:r>
              <a:rPr sz="1550" b="0">
                <a:solidFill>
                  <a:srgbClr val="1A1A1A"/>
                </a:solidFill>
                <a:latin typeface="Calibri"/>
              </a:rPr>
              <a:t> the last deletion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800219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" y="4722495"/>
            <a:ext cx="4608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Sort</a:t>
            </a:r>
            <a:r>
              <a:rPr sz="1550" b="0">
                <a:solidFill>
                  <a:srgbClr val="1A1A1A"/>
                </a:solidFill>
                <a:latin typeface="Calibri"/>
              </a:rPr>
              <a:t> alphabetically by 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148840"/>
            <a:ext cx="5394960" cy="32004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3591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ONE RECORD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788920"/>
            <a:ext cx="4846320" cy="1618488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37960" y="2788920"/>
            <a:ext cx="50292" cy="161848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9128" y="2916936"/>
            <a:ext cx="4535424" cy="1435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500">
                <a:solidFill>
                  <a:srgbClr val="E6E9EF"/>
                </a:solidFill>
                <a:latin typeface="Consolas"/>
              </a:rPr>
              <a:t>struct Student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500">
                <a:solidFill>
                  <a:srgbClr val="E6E9EF"/>
                </a:solidFill>
                <a:latin typeface="Consolas"/>
              </a:rPr>
              <a:t>    int    roll;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500">
                <a:solidFill>
                  <a:srgbClr val="E6E9EF"/>
                </a:solidFill>
                <a:latin typeface="Consolas"/>
              </a:rPr>
              <a:t>    string name;      </a:t>
            </a:r>
            <a:r>
              <a:rPr sz="1500">
                <a:solidFill>
                  <a:srgbClr val="7EC99B"/>
                </a:solidFill>
                <a:latin typeface="Consolas"/>
              </a:rPr>
              <a:t>// STRING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500">
                <a:solidFill>
                  <a:srgbClr val="E6E9EF"/>
                </a:solidFill>
                <a:latin typeface="Consolas"/>
              </a:rPr>
              <a:t>    string course;    </a:t>
            </a:r>
            <a:r>
              <a:rPr sz="1500">
                <a:solidFill>
                  <a:srgbClr val="7EC99B"/>
                </a:solidFill>
                <a:latin typeface="Consolas"/>
              </a:rPr>
              <a:t>// STRING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500">
                <a:solidFill>
                  <a:srgbClr val="E6E9EF"/>
                </a:solidFill>
                <a:latin typeface="Consolas"/>
              </a:rPr>
              <a:t>    int    room;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500">
                <a:solidFill>
                  <a:srgbClr val="E6E9EF"/>
                </a:solidFill>
                <a:latin typeface="Consolas"/>
              </a:rPr>
              <a:t>};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555F6D"/>
                </a:solidFill>
                <a:latin typeface="Calibri"/>
              </a:rPr>
              <a:t>100 such records are kept in one array, and deleted ones are kept on a stack.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Why These Three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55F6D"/>
                </a:solidFill>
                <a:latin typeface="Calibri"/>
              </a:rPr>
              <a:t>Each structure was chosen for a reason — not just to tick a requirement.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91640"/>
          <a:ext cx="1115568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572000"/>
                <a:gridCol w="5120640"/>
              </a:tblGrid>
              <a:tr h="841248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Where it is used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Why this one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ARRAY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students[100] holds every record, with count_ tracking how many are used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Records need indexed access and ordered display, and the maximum is known in advance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STACK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Deleted records are pushed here; Undo pops the top one back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Undo must reverse the most recent action first — that is exactly LIFO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STRING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Name and course fields; case-insensitive search and alphabetical sort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Text data needs character-level comparison, which std::string supports directly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30368"/>
            <a:ext cx="11155680" cy="960120"/>
          </a:xfrm>
          <a:prstGeom prst="rect">
            <a:avLst/>
          </a:prstGeom>
          <a:solidFill>
            <a:srgbClr val="ECFDF3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600" b="1">
                <a:solidFill>
                  <a:srgbClr val="0F7A38"/>
                </a:solidFill>
                <a:latin typeface="Calibri"/>
              </a:rPr>
              <a:t>The key point: </a:t>
            </a:r>
            <a:r>
              <a:rPr sz="1600" b="0">
                <a:solidFill>
                  <a:srgbClr val="1A1A1A"/>
                </a:solidFill>
                <a:latin typeface="Calibri"/>
              </a:rPr>
              <a:t>the stack is not decoration. Undo has to reverse the </a:t>
            </a:r>
            <a:r>
              <a:rPr sz="1600" b="1">
                <a:solidFill>
                  <a:srgbClr val="1A1A1A"/>
                </a:solidFill>
                <a:latin typeface="Calibri"/>
              </a:rPr>
              <a:t>most recent</a:t>
            </a:r>
            <a:r>
              <a:rPr sz="1600" b="0">
                <a:solidFill>
                  <a:srgbClr val="1A1A1A"/>
                </a:solidFill>
                <a:latin typeface="Calibri"/>
              </a:rPr>
              <a:t> deletion first, which is Last In First Out. A queue would be wrong — it would undo the </a:t>
            </a:r>
            <a:r>
              <a:rPr sz="1600" b="1">
                <a:solidFill>
                  <a:srgbClr val="1A1A1A"/>
                </a:solidFill>
                <a:latin typeface="Calibri"/>
              </a:rPr>
              <a:t>oldest</a:t>
            </a:r>
            <a:r>
              <a:rPr sz="1600" b="0">
                <a:solidFill>
                  <a:srgbClr val="1A1A1A"/>
                </a:solidFill>
                <a:latin typeface="Calibri"/>
              </a:rPr>
              <a:t> deletion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Array — Storing the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349240" cy="3858768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50292" cy="385876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16736"/>
            <a:ext cx="5038344" cy="3675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Student students[MAX];   </a:t>
            </a:r>
            <a:r>
              <a:rPr sz="1350">
                <a:solidFill>
                  <a:srgbClr val="7EC99B"/>
                </a:solidFill>
                <a:latin typeface="Consolas"/>
              </a:rPr>
              <a:t>// MAX = 100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int count_ = 0;          </a:t>
            </a:r>
            <a:r>
              <a:rPr sz="1350">
                <a:solidFill>
                  <a:srgbClr val="7EC99B"/>
                </a:solidFill>
                <a:latin typeface="Consolas"/>
              </a:rPr>
              <a:t>// how many are used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bool addStudent(int roll, string name,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            string course, int room)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if (count_ &gt;= MAX)   return false;  </a:t>
            </a:r>
            <a:r>
              <a:rPr sz="1350">
                <a:solidFill>
                  <a:srgbClr val="7EC99B"/>
                </a:solidFill>
                <a:latin typeface="Consolas"/>
              </a:rPr>
              <a:t>// full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if (findStudent(roll) != -1)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  return false;    </a:t>
            </a:r>
            <a:r>
              <a:rPr sz="1350">
                <a:solidFill>
                  <a:srgbClr val="7EC99B"/>
                </a:solidFill>
                <a:latin typeface="Consolas"/>
              </a:rPr>
              <a:t>// duplicate roll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students[count_].roll   = roll;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students[count_].name   = name;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students[count_].course = course;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students[count_].room   = room;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count_++;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return true;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1887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HOW IT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05356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4" y="1627632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Insert </a:t>
            </a:r>
            <a:r>
              <a:rPr sz="1550" b="0">
                <a:solidFill>
                  <a:srgbClr val="1A1A1A"/>
                </a:solidFill>
                <a:latin typeface="Calibri"/>
              </a:rPr>
              <a:t>puts the record at index count_ and increments it — O(1), no shifting needed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396998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2319274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count_ </a:t>
            </a:r>
            <a:r>
              <a:rPr sz="1550" b="0">
                <a:solidFill>
                  <a:srgbClr val="1A1A1A"/>
                </a:solidFill>
                <a:latin typeface="Calibri"/>
              </a:rPr>
              <a:t>is the logical size, kept separate from the array's physical capacity of 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088640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3010916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Two checks first: </a:t>
            </a:r>
            <a:r>
              <a:rPr sz="1550" b="0">
                <a:solidFill>
                  <a:srgbClr val="1A1A1A"/>
                </a:solidFill>
                <a:latin typeface="Calibri"/>
              </a:rPr>
              <a:t>the array must not be full, and the roll number must not already exist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780282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3702558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Search </a:t>
            </a:r>
            <a:r>
              <a:rPr sz="1550" b="0">
                <a:solidFill>
                  <a:srgbClr val="1A1A1A"/>
                </a:solidFill>
                <a:latin typeface="Calibri"/>
              </a:rPr>
              <a:t>walks index 0 to count_-1 — a linear search, O(n)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192397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4114673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findStudent() returns the index</a:t>
            </a:r>
            <a:r>
              <a:rPr sz="1550" b="0">
                <a:solidFill>
                  <a:srgbClr val="1A1A1A"/>
                </a:solidFill>
                <a:latin typeface="Calibri"/>
              </a:rPr>
              <a:t>, not the record, because deletion needs to know where it 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5029200"/>
            <a:ext cx="5394960" cy="868680"/>
          </a:xfrm>
          <a:prstGeom prst="rect">
            <a:avLst/>
          </a:prstGeom>
          <a:solidFill>
            <a:srgbClr val="F3F6FB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5166360"/>
            <a:ext cx="5029200" cy="722376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6520" y="5166360"/>
            <a:ext cx="50292" cy="72237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5294376"/>
            <a:ext cx="4718304" cy="5394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>
                <a:solidFill>
                  <a:srgbClr val="E6E9EF"/>
                </a:solidFill>
                <a:latin typeface="Consolas"/>
              </a:rPr>
              <a:t>for (int i = 0; i &lt; count_; i++)      </a:t>
            </a:r>
            <a:r>
              <a:rPr sz="1250">
                <a:solidFill>
                  <a:srgbClr val="7EC99B"/>
                </a:solidFill>
                <a:latin typeface="Consolas"/>
              </a:rPr>
              <a:t>// linear search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>
                <a:solidFill>
                  <a:srgbClr val="E6E9EF"/>
                </a:solidFill>
                <a:latin typeface="Consolas"/>
              </a:rPr>
              <a:t>    if (students[i].roll == roll) return i;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Stack — Remembering Deletions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349240" cy="3634739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50292" cy="3634739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16736"/>
            <a:ext cx="5038344" cy="34518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Student stack_[MAX];   </a:t>
            </a:r>
            <a:r>
              <a:rPr sz="1350">
                <a:solidFill>
                  <a:srgbClr val="7EC99B"/>
                </a:solidFill>
                <a:latin typeface="Consolas"/>
              </a:rPr>
              <a:t>// the stack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int top_ = -1;         </a:t>
            </a:r>
            <a:r>
              <a:rPr sz="1350">
                <a:solidFill>
                  <a:srgbClr val="7EC99B"/>
                </a:solidFill>
                <a:latin typeface="Consolas"/>
              </a:rPr>
              <a:t>// -1 means empty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void push(Student s)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if (top_ &lt; MAX - 1) {   </a:t>
            </a:r>
            <a:r>
              <a:rPr sz="1350">
                <a:solidFill>
                  <a:srgbClr val="7EC99B"/>
                </a:solidFill>
                <a:latin typeface="Consolas"/>
              </a:rPr>
              <a:t>// overflow check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    top_++;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    stack_[top_] = s;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}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Student pop()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Student s = stack_[top_];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top_--;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return s;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1887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ARRAY IMPLEMENTATION OF A STACK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600200"/>
          <a:ext cx="5394958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726"/>
                <a:gridCol w="3123397"/>
                <a:gridCol w="851835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push(s)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top_++ then store at that index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pop()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read at top_ then top_--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O(1)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stackEmpty()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true when top_ == -1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263640" y="3506724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1384" y="3429000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Overflow </a:t>
            </a:r>
            <a:r>
              <a:rPr sz="1550" b="0">
                <a:solidFill>
                  <a:srgbClr val="1A1A1A"/>
                </a:solidFill>
                <a:latin typeface="Calibri"/>
              </a:rPr>
              <a:t>= pushing onto a full stack, blocked by top_ &lt; MAX-1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918839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3841115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Underflow </a:t>
            </a:r>
            <a:r>
              <a:rPr sz="1550" b="0">
                <a:solidFill>
                  <a:srgbClr val="1A1A1A"/>
                </a:solidFill>
                <a:latin typeface="Calibri"/>
              </a:rPr>
              <a:t>= popping an empty stack, blocked by top_ == -1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330954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4253230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Both checked before </a:t>
            </a:r>
            <a:r>
              <a:rPr sz="1550" b="0">
                <a:solidFill>
                  <a:srgbClr val="1A1A1A"/>
                </a:solidFill>
                <a:latin typeface="Calibri"/>
              </a:rPr>
              <a:t>the array is touched, so memory outside it is never accessed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5022596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4944872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top_ starts at -1 </a:t>
            </a:r>
            <a:r>
              <a:rPr sz="1550" b="0">
                <a:solidFill>
                  <a:srgbClr val="1A1A1A"/>
                </a:solidFill>
                <a:latin typeface="Calibri"/>
              </a:rPr>
              <a:t>because an empty stack has no valid top index; size is always top_ + 1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Strings — Searching and Sorting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CASE-INSENSITIVE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349240" cy="2738627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0292" cy="2738627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728216"/>
            <a:ext cx="5038344" cy="25557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string toLower(string s)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for (int i = 0; i &lt; s.size(); i++)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if (s[i] &gt;= 'A' &amp;&amp; s[i] &lt;= 'Z')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    s[i] = s[i] + 32;   </a:t>
            </a:r>
            <a:r>
              <a:rPr sz="1350">
                <a:solidFill>
                  <a:srgbClr val="7EC99B"/>
                </a:solidFill>
                <a:latin typeface="Consolas"/>
              </a:rPr>
              <a:t>// 'A'=65 'a'=97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return s;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bool contains(string text, string key)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return toLower(text).find(toLower(key))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     != string::npos;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526280"/>
            <a:ext cx="5349240" cy="685800"/>
          </a:xfrm>
          <a:prstGeom prst="rect">
            <a:avLst/>
          </a:prstGeom>
          <a:solidFill>
            <a:srgbClr val="F3F6FB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68172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This is why typing </a:t>
            </a:r>
            <a:r>
              <a:rPr sz="1400" b="1">
                <a:solidFill>
                  <a:srgbClr val="12356F"/>
                </a:solidFill>
                <a:latin typeface="Calibri"/>
              </a:rPr>
              <a:t>bca</a:t>
            </a:r>
            <a:r>
              <a:rPr sz="1400" b="0">
                <a:solidFill>
                  <a:srgbClr val="1A1A1A"/>
                </a:solidFill>
                <a:latin typeface="Calibri"/>
              </a:rPr>
              <a:t> also finds </a:t>
            </a:r>
            <a:r>
              <a:rPr sz="1400" b="1">
                <a:solidFill>
                  <a:srgbClr val="12356F"/>
                </a:solidFill>
                <a:latin typeface="Calibri"/>
              </a:rPr>
              <a:t>BCA</a:t>
            </a:r>
            <a:r>
              <a:rPr sz="1400" b="0">
                <a:solidFill>
                  <a:srgbClr val="1A1A1A"/>
                </a:solidFill>
                <a:latin typeface="Calibri"/>
              </a:rPr>
              <a:t>. The stored data is never changed — only the copies used for comparison.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18872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SORTING BY NAME (BUBBLE SORT)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00200"/>
            <a:ext cx="5349240" cy="2514600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600200"/>
            <a:ext cx="50292" cy="25146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5038344" cy="2331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void sortByName()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for (int i = 0; i &lt; count_-1; i++)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for (int j = 0; j &lt; count_-1-i; j++)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if (toLower(students[j].name) 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   toLower(students[j+1].name))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  Student t     = students[j];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  students[j]   = students[j+1];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   students[j+1] = t;      </a:t>
            </a:r>
            <a:r>
              <a:rPr sz="1350">
                <a:solidFill>
                  <a:srgbClr val="7EC99B"/>
                </a:solidFill>
                <a:latin typeface="Consolas"/>
              </a:rPr>
              <a:t>// swap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   }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>
                <a:solidFill>
                  <a:srgbClr val="E6E9EF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315968"/>
            <a:ext cx="5349240" cy="896112"/>
          </a:xfrm>
          <a:prstGeom prst="rect">
            <a:avLst/>
          </a:prstGeom>
          <a:solidFill>
            <a:srgbClr val="F3F6FB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448056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The </a:t>
            </a:r>
            <a:r>
              <a:rPr sz="1400" b="1">
                <a:solidFill>
                  <a:srgbClr val="12356F"/>
                </a:solidFill>
                <a:latin typeface="Calibri"/>
              </a:rPr>
              <a:t>&gt;</a:t>
            </a:r>
            <a:r>
              <a:rPr sz="1400" b="0">
                <a:solidFill>
                  <a:srgbClr val="1A1A1A"/>
                </a:solidFill>
                <a:latin typeface="Calibri"/>
              </a:rPr>
              <a:t> operator on std::string compares </a:t>
            </a:r>
            <a:r>
              <a:rPr sz="1400" b="1">
                <a:solidFill>
                  <a:srgbClr val="12356F"/>
                </a:solidFill>
                <a:latin typeface="Calibri"/>
              </a:rPr>
              <a:t>lexicographically</a:t>
            </a:r>
            <a:r>
              <a:rPr sz="1400" b="0">
                <a:solidFill>
                  <a:srgbClr val="1A1A1A"/>
                </a:solidFill>
                <a:latin typeface="Calibri"/>
              </a:rPr>
              <a:t> — character by character, like a dictionary. Nested loops make this </a:t>
            </a:r>
            <a:r>
              <a:rPr sz="1400" b="1">
                <a:solidFill>
                  <a:srgbClr val="12356F"/>
                </a:solidFill>
                <a:latin typeface="Calibri"/>
              </a:rPr>
              <a:t>O(n²)</a:t>
            </a:r>
            <a:r>
              <a:rPr sz="140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48640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Search also matches the roll number typed as text, using </a:t>
            </a:r>
            <a:r>
              <a:rPr sz="1500" b="1">
                <a:solidFill>
                  <a:srgbClr val="12356F"/>
                </a:solidFill>
                <a:latin typeface="Calibri"/>
              </a:rPr>
              <a:t>to_string()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so one search box covers name, course and roll.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Deletion: Both Structures Working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0">
                <a:solidFill>
                  <a:srgbClr val="1A1A1A"/>
                </a:solidFill>
                <a:latin typeface="Calibri"/>
              </a:rPr>
              <a:t>This is the most important function in the project — the array and the stack are used in the </a:t>
            </a:r>
            <a:r>
              <a:rPr sz="1650" b="1">
                <a:solidFill>
                  <a:srgbClr val="12356F"/>
                </a:solidFill>
                <a:latin typeface="Calibri"/>
              </a:rPr>
              <a:t>same operation</a:t>
            </a:r>
            <a:r>
              <a:rPr sz="1650" b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5852160" cy="2738627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50292" cy="2738627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19656"/>
            <a:ext cx="5541264" cy="25557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bool deleteStudent(int roll)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int i = findStudent(roll);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if (i == -1) return false;   </a:t>
            </a:r>
            <a:r>
              <a:rPr sz="1400">
                <a:solidFill>
                  <a:srgbClr val="7EC99B"/>
                </a:solidFill>
                <a:latin typeface="Consolas"/>
              </a:rPr>
              <a:t>// not found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push(students[i]);      </a:t>
            </a:r>
            <a:r>
              <a:rPr sz="1400">
                <a:solidFill>
                  <a:srgbClr val="7EC99B"/>
                </a:solidFill>
                <a:latin typeface="Consolas"/>
              </a:rPr>
              <a:t>// STACK: save first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for (int j = i; j &lt; count_-1; j++)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    students[j] = students[j+1];  </a:t>
            </a:r>
            <a:r>
              <a:rPr sz="1400">
                <a:solidFill>
                  <a:srgbClr val="7EC99B"/>
                </a:solidFill>
                <a:latin typeface="Consolas"/>
              </a:rPr>
              <a:t>// shift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count_--;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return true;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434840"/>
            <a:ext cx="5852160" cy="1371600"/>
          </a:xfrm>
          <a:prstGeom prst="rect">
            <a:avLst/>
          </a:prstGeom>
          <a:solidFill>
            <a:srgbClr val="FFF7E6"/>
          </a:solidFill>
          <a:ln w="15875">
            <a:solidFill>
              <a:srgbClr val="E0A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5440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8A5A00"/>
                </a:solidFill>
                <a:latin typeface="Calibri"/>
              </a:rPr>
              <a:t>The order matters. </a:t>
            </a:r>
            <a:r>
              <a:rPr sz="1550" b="0">
                <a:solidFill>
                  <a:srgbClr val="1A1A1A"/>
                </a:solidFill>
                <a:latin typeface="Calibri"/>
              </a:rPr>
              <a:t>The record is pushed onto the stack </a:t>
            </a:r>
            <a:r>
              <a:rPr sz="1550" b="1">
                <a:solidFill>
                  <a:srgbClr val="1A1A1A"/>
                </a:solidFill>
                <a:latin typeface="Calibri"/>
              </a:rPr>
              <a:t>before</a:t>
            </a:r>
            <a:r>
              <a:rPr sz="1550" b="0">
                <a:solidFill>
                  <a:srgbClr val="1A1A1A"/>
                </a:solidFill>
                <a:latin typeface="Calibri"/>
              </a:rPr>
              <a:t> the shift overwrites it. Push after shifting would copy the wrong student, and undo would restore garbage.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6916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DELETING ROLL 102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2103120"/>
            <a:ext cx="4937760" cy="3703320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267712"/>
            <a:ext cx="4617720" cy="3383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before:  [101][102][103][104]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              |             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8A93A5"/>
                </a:solidFill>
                <a:latin typeface="Consolas"/>
              </a:rPr>
              <a:t>         count_ = 4           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7EC99B"/>
                </a:solidFill>
                <a:latin typeface="Consolas"/>
              </a:rPr>
              <a:t>step 1   push a copy onto the stack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shift:   [101][103][104][104]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8A93A5"/>
                </a:solidFill>
                <a:latin typeface="Consolas"/>
              </a:rPr>
              <a:t>          move each one left  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after:   [101][103][104]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8A93A5"/>
                </a:solidFill>
                <a:latin typeface="Consolas"/>
              </a:rPr>
              <a:t>         count_ = 3           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8A93A5"/>
                </a:solidFill>
                <a:latin typeface="Consolas"/>
              </a:rPr>
              <a:t>         last slot is ignored 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1400">
                <a:solidFill>
                  <a:srgbClr val="F0B45C"/>
                </a:solidFill>
                <a:latin typeface="Consolas"/>
              </a:rPr>
              <a:t>stack:   | 102 |  &lt;-- top_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Undo — Popping the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5852160" cy="1618488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0292" cy="161848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62456"/>
            <a:ext cx="5541264" cy="1435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bool undoDelete()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if (stackEmpty()) return false;  </a:t>
            </a:r>
            <a:r>
              <a:rPr sz="1400">
                <a:solidFill>
                  <a:srgbClr val="7EC99B"/>
                </a:solidFill>
                <a:latin typeface="Consolas"/>
              </a:rPr>
              <a:t>// nothing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Student s = pop();     </a:t>
            </a:r>
            <a:r>
              <a:rPr sz="1400">
                <a:solidFill>
                  <a:srgbClr val="7EC99B"/>
                </a:solidFill>
                <a:latin typeface="Consolas"/>
              </a:rPr>
              <a:t>// STACK: top record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return addStudent(s.roll, s.name,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                  s.course, s.room);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40964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3063240"/>
            <a:ext cx="5614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2356F"/>
                </a:solidFill>
                <a:latin typeface="Calibri"/>
              </a:rPr>
              <a:t>Reuses addStudent()</a:t>
            </a:r>
            <a:r>
              <a:rPr sz="1600" b="0">
                <a:solidFill>
                  <a:srgbClr val="1A1A1A"/>
                </a:solidFill>
                <a:latin typeface="Calibri"/>
              </a:rPr>
              <a:t> — the restored record goes back through the normal insertion path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63340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785616"/>
            <a:ext cx="5614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2356F"/>
                </a:solidFill>
                <a:latin typeface="Calibri"/>
              </a:rPr>
              <a:t>Underflow is checked first</a:t>
            </a:r>
            <a:r>
              <a:rPr sz="1600" b="0">
                <a:solidFill>
                  <a:srgbClr val="1A1A1A"/>
                </a:solidFill>
                <a:latin typeface="Calibri"/>
              </a:rPr>
              <a:t>, so pressing Undo with an empty stack is safe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85716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507992"/>
            <a:ext cx="5614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2356F"/>
                </a:solidFill>
                <a:latin typeface="Calibri"/>
              </a:rPr>
              <a:t>LIFO in action: </a:t>
            </a:r>
            <a:r>
              <a:rPr sz="1600" b="0">
                <a:solidFill>
                  <a:srgbClr val="1A1A1A"/>
                </a:solidFill>
                <a:latin typeface="Calibri"/>
              </a:rPr>
              <a:t>delete three students, press Undo three times, and they come back in reverse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2344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WHY LIFO IS THE RIGHT BEHAVIOUR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645920"/>
            <a:ext cx="4937760" cy="3291840"/>
          </a:xfrm>
          <a:prstGeom prst="rect">
            <a:avLst/>
          </a:prstGeom>
          <a:solidFill>
            <a:srgbClr val="F3F6FB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1828800"/>
            <a:ext cx="4526280" cy="297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50">
                <a:solidFill>
                  <a:srgbClr val="12356F"/>
                </a:solidFill>
                <a:latin typeface="Consolas"/>
              </a:rPr>
              <a:t>delete 101   stack:  | 101 |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50">
                <a:solidFill>
                  <a:srgbClr val="12356F"/>
                </a:solidFill>
                <a:latin typeface="Consolas"/>
              </a:rPr>
              <a:t>delete 102   stack:  | 101 | 102 |  &lt;- top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50">
                <a:solidFill>
                  <a:srgbClr val="12356F"/>
                </a:solidFill>
                <a:latin typeface="Consolas"/>
              </a:rPr>
              <a:t>delete 103   stack:  | 101 | 102 | 103 |  &lt;- top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5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50">
                <a:solidFill>
                  <a:srgbClr val="0F7A38"/>
                </a:solidFill>
                <a:latin typeface="Consolas"/>
              </a:rPr>
              <a:t>undo   -&gt;  103 comes back  (newest first)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50">
                <a:solidFill>
                  <a:srgbClr val="0F7A38"/>
                </a:solidFill>
                <a:latin typeface="Consolas"/>
              </a:rPr>
              <a:t>undo   -&gt;  102 comes back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50">
                <a:solidFill>
                  <a:srgbClr val="0F7A38"/>
                </a:solidFill>
                <a:latin typeface="Consolas"/>
              </a:rPr>
              <a:t>undo   -&gt;  101 comes back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50">
                <a:solidFill>
                  <a:srgbClr val="555F6D"/>
                </a:solidFill>
                <a:latin typeface="Consolas"/>
              </a:rPr>
              <a:t>undo   -&gt;  stack empty, nothing happens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512064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500" b="0">
                <a:solidFill>
                  <a:srgbClr val="555F6D"/>
                </a:solidFill>
                <a:latin typeface="Calibri"/>
              </a:rPr>
              <a:t>A queue here would undo 101 first — the oldest deletion — which is not what undo means. That is why the structure had to be a stack.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6035040" cy="4114800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5669280" cy="37490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ds_project_2/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555F6D"/>
                </a:solidFill>
                <a:latin typeface="Consolas"/>
              </a:rPr>
              <a:t> |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+-- src/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F0B45C"/>
                </a:solidFill>
                <a:latin typeface="Consolas"/>
              </a:rPr>
              <a:t>      hostel.h      ALL data structure code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    console.cpp   the console menu program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    server.cpp     the small web server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555F6D"/>
                </a:solidFill>
                <a:latin typeface="Consolas"/>
              </a:rPr>
              <a:t> |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+-- web/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    index.html    the interface (no JavaScript)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     style.css     the styling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555F6D"/>
                </a:solidFill>
                <a:latin typeface="Consolas"/>
              </a:rPr>
              <a:t> |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+-- docs/          report and this presentation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+-- Makefile       build commands</a:t>
            </a:r>
          </a:p>
          <a:p>
            <a:pPr>
              <a:lnSpc>
                <a:spcPct val="114000"/>
              </a:lnSpc>
              <a:spcAft>
                <a:spcPts val="10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 +-- README.md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887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ONE FILE HOLDS THE LOGIC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1627632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All the data structures live in </a:t>
            </a:r>
            <a:r>
              <a:rPr sz="1600" b="1">
                <a:solidFill>
                  <a:srgbClr val="12356F"/>
                </a:solidFill>
                <a:latin typeface="Calibri"/>
              </a:rPr>
              <a:t>src/hostel.h</a:t>
            </a:r>
            <a:r>
              <a:rPr sz="1600" b="0">
                <a:solidFill>
                  <a:srgbClr val="1A1A1A"/>
                </a:solidFill>
                <a:latin typeface="Calibri"/>
              </a:rPr>
              <a:t> — about 140 lines. The console program and the web server contain </a:t>
            </a:r>
            <a:r>
              <a:rPr sz="1600" b="1">
                <a:solidFill>
                  <a:srgbClr val="12356F"/>
                </a:solidFill>
                <a:latin typeface="Calibri"/>
              </a:rPr>
              <a:t>no data structure code of their own</a:t>
            </a:r>
            <a:r>
              <a:rPr sz="1600" b="0">
                <a:solidFill>
                  <a:srgbClr val="1A1A1A"/>
                </a:solidFill>
                <a:latin typeface="Calibri"/>
              </a:rPr>
              <a:t>: they are just two different ways of calling the same functions.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3720" y="3415284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41464" y="3337560"/>
            <a:ext cx="45171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Separation of logic from interface</a:t>
            </a:r>
            <a:r>
              <a:rPr sz="155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903720" y="3827399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41464" y="3749675"/>
            <a:ext cx="45171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The same header can be dropped into a bigger project</a:t>
            </a:r>
            <a:r>
              <a:rPr sz="155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903720" y="4239514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41464" y="4161790"/>
            <a:ext cx="45171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Nothing to install — standard library only</a:t>
            </a:r>
            <a:r>
              <a:rPr sz="155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How to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WEB VERSION  (use this for the demo)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5486400" cy="1618488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0292" cy="161848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700784"/>
            <a:ext cx="5175504" cy="1435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$ cd ds_project_2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$ make web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g++ src/server.cpp -o server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./server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Server running -&gt; http:</a:t>
            </a:r>
            <a:r>
              <a:rPr sz="1400">
                <a:solidFill>
                  <a:srgbClr val="7EC99B"/>
                </a:solidFill>
                <a:latin typeface="Consolas"/>
              </a:rPr>
              <a:t>//localhost:8080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918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CONSOLE VERSION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694176"/>
            <a:ext cx="5486400" cy="1618488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694176"/>
            <a:ext cx="50292" cy="161848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822192"/>
            <a:ext cx="5175504" cy="1435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$ make cli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1. Add student      5. Undo delete (stack)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2. Show all         6. Sort by name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3. Search student   7. Exit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E6E9EF"/>
                </a:solidFill>
                <a:latin typeface="Consolas"/>
              </a:rPr>
              <a:t>4. Delete student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17043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REQUIREMENTS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650492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2824" y="1572768"/>
            <a:ext cx="50657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g++ </a:t>
            </a:r>
            <a:r>
              <a:rPr sz="1550" b="0">
                <a:solidFill>
                  <a:srgbClr val="1A1A1A"/>
                </a:solidFill>
                <a:latin typeface="Calibri"/>
              </a:rPr>
              <a:t>and Linux or macOS — nothing to install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2049907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1972183"/>
            <a:ext cx="50657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POSIX sockets </a:t>
            </a:r>
            <a:r>
              <a:rPr sz="1550" b="0">
                <a:solidFill>
                  <a:srgbClr val="1A1A1A"/>
                </a:solidFill>
                <a:latin typeface="Calibri"/>
              </a:rPr>
              <a:t>are built into the operating system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449322"/>
            <a:ext cx="68580" cy="685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2824" y="2371598"/>
            <a:ext cx="50657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Any browser </a:t>
            </a:r>
            <a:r>
              <a:rPr sz="1550" b="0">
                <a:solidFill>
                  <a:srgbClr val="1A1A1A"/>
                </a:solidFill>
                <a:latin typeface="Calibri"/>
              </a:rPr>
              <a:t>for the web version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3200400"/>
            <a:ext cx="5303520" cy="1234440"/>
          </a:xfrm>
          <a:prstGeom prst="rect">
            <a:avLst/>
          </a:prstGeom>
          <a:solidFill>
            <a:srgbClr val="FFF7E6"/>
          </a:solidFill>
          <a:ln w="15875">
            <a:solidFill>
              <a:srgbClr val="E0A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4015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500" b="1">
                <a:solidFill>
                  <a:srgbClr val="8A5A00"/>
                </a:solidFill>
                <a:latin typeface="Calibri"/>
              </a:rPr>
              <a:t>Run it from inside the project folder. </a:t>
            </a:r>
            <a:r>
              <a:rPr sz="1500" b="0">
                <a:solidFill>
                  <a:srgbClr val="1A1A1A"/>
                </a:solidFill>
                <a:latin typeface="Calibri"/>
              </a:rPr>
              <a:t>The server reads web/index.html and web/style.css by relative path, so starting it from elsewhere gives a blank page.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663440"/>
            <a:ext cx="5303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500" b="0">
                <a:solidFill>
                  <a:srgbClr val="555F6D"/>
                </a:solidFill>
                <a:latin typeface="Calibri"/>
              </a:rPr>
              <a:t>Other commands: </a:t>
            </a:r>
            <a:r>
              <a:rPr sz="1500" b="1">
                <a:solidFill>
                  <a:srgbClr val="12356F"/>
                </a:solidFill>
                <a:latin typeface="Calibri"/>
              </a:rPr>
              <a:t>make</a:t>
            </a:r>
            <a:r>
              <a:rPr sz="1500" b="0">
                <a:solidFill>
                  <a:srgbClr val="555F6D"/>
                </a:solidFill>
                <a:latin typeface="Calibri"/>
              </a:rPr>
              <a:t> builds both programs, </a:t>
            </a:r>
            <a:r>
              <a:rPr sz="1500" b="1">
                <a:solidFill>
                  <a:srgbClr val="12356F"/>
                </a:solidFill>
                <a:latin typeface="Calibri"/>
              </a:rPr>
              <a:t>make clean</a:t>
            </a:r>
            <a:r>
              <a:rPr sz="1500" b="0">
                <a:solidFill>
                  <a:srgbClr val="555F6D"/>
                </a:solidFill>
                <a:latin typeface="Calibri"/>
              </a:rPr>
              <a:t> removes them, </a:t>
            </a:r>
            <a:r>
              <a:rPr sz="1500" b="1">
                <a:solidFill>
                  <a:srgbClr val="12356F"/>
                </a:solidFill>
                <a:latin typeface="Calibri"/>
              </a:rPr>
              <a:t>make report</a:t>
            </a:r>
            <a:r>
              <a:rPr sz="1500" b="0">
                <a:solidFill>
                  <a:srgbClr val="555F6D"/>
                </a:solidFill>
                <a:latin typeface="Calibri"/>
              </a:rPr>
              <a:t> rebuilds the PDF.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How the Web Interface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0">
                <a:solidFill>
                  <a:srgbClr val="1A1A1A"/>
                </a:solidFill>
                <a:latin typeface="Calibri"/>
              </a:rPr>
              <a:t>The interface is </a:t>
            </a:r>
            <a:r>
              <a:rPr sz="1650" b="1">
                <a:solidFill>
                  <a:srgbClr val="12356F"/>
                </a:solidFill>
                <a:latin typeface="Calibri"/>
              </a:rPr>
              <a:t>HTML and CSS only</a:t>
            </a:r>
            <a:r>
              <a:rPr sz="1650" b="0">
                <a:solidFill>
                  <a:srgbClr val="1A1A1A"/>
                </a:solidFill>
                <a:latin typeface="Calibri"/>
              </a:rPr>
              <a:t> — there is no JavaScript. Every button is a normal form or link, and C++ does all the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6949440" cy="3977639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74519"/>
            <a:ext cx="6583680" cy="3657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9FB6E8"/>
                </a:solidFill>
                <a:latin typeface="Consolas"/>
              </a:rPr>
              <a:t>  browser                     C++ server (server.cpp)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555F6D"/>
                </a:solidFill>
                <a:latin typeface="Consolas"/>
              </a:rPr>
              <a:t>     |                              |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E6E9EF"/>
                </a:solidFill>
                <a:latin typeface="Consolas"/>
              </a:rPr>
              <a:t>  GET /  ----------------------&gt;     read web/index.html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7EC99B"/>
                </a:solidFill>
                <a:latin typeface="Consolas"/>
              </a:rPr>
              <a:t>     |                              loop the ARRAY -&gt; table rows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7EC99B"/>
                </a:solidFill>
                <a:latin typeface="Consolas"/>
              </a:rPr>
              <a:t>     |                              loop the STACK -&gt; the list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7EC99B"/>
                </a:solidFill>
                <a:latin typeface="Consolas"/>
              </a:rPr>
              <a:t>     |                              fill in {{ROWS}} {{STACK}}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E6E9EF"/>
                </a:solidFill>
                <a:latin typeface="Consolas"/>
              </a:rPr>
              <a:t>     |  &lt;--- finished HTML page      {{COUNT}} {{SEARCH}}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555F6D"/>
                </a:solidFill>
                <a:latin typeface="Consolas"/>
              </a:rPr>
              <a:t>     |                              |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E6E9EF"/>
                </a:solidFill>
                <a:latin typeface="Consolas"/>
              </a:rPr>
              <a:t>  POST /add  ------------------&gt;     addStudent()   array insert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E6E9EF"/>
                </a:solidFill>
                <a:latin typeface="Consolas"/>
              </a:rPr>
              <a:t>  GET /delete?roll=102 -------&gt;     deleteStudent() shift + push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E6E9EF"/>
                </a:solidFill>
                <a:latin typeface="Consolas"/>
              </a:rPr>
              <a:t>  GET /undo  ------------------&gt;     undoDelete()   pop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E6E9EF"/>
                </a:solidFill>
                <a:latin typeface="Consolas"/>
              </a:rPr>
              <a:t>  GET /sort  ------------------&gt;     sortByName()   string compare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E6E9EF"/>
                </a:solidFill>
                <a:latin typeface="Consolas"/>
              </a:rPr>
              <a:t>  GET /?q=bca -----------------&gt;     matches()      string search</a:t>
            </a:r>
          </a:p>
          <a:p>
            <a:pPr>
              <a:lnSpc>
                <a:spcPct val="116000"/>
              </a:lnSpc>
              <a:spcAft>
                <a:spcPts val="100"/>
              </a:spcAft>
            </a:pPr>
            <a:r>
              <a:rPr sz="1300">
                <a:solidFill>
                  <a:srgbClr val="555F6D"/>
                </a:solidFill>
                <a:latin typeface="Consolas"/>
              </a:rPr>
              <a:t>     |  &lt;--- redirect back to /      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6916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F6FED"/>
                </a:solidFill>
                <a:latin typeface="Calibri"/>
              </a:rPr>
              <a:t>TEMPLATE REPLACEMENT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103120"/>
            <a:ext cx="3840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index.html holds markers like </a:t>
            </a:r>
            <a:r>
              <a:rPr sz="1500" b="1">
                <a:solidFill>
                  <a:srgbClr val="12356F"/>
                </a:solidFill>
                <a:latin typeface="Calibri"/>
              </a:rPr>
              <a:t>{{ROWS}}</a:t>
            </a:r>
            <a:r>
              <a:rPr sz="1500" b="0">
                <a:solidFill>
                  <a:srgbClr val="1A1A1A"/>
                </a:solidFill>
                <a:latin typeface="Calibri"/>
              </a:rPr>
              <a:t>. The C++ function makePage() swaps each one for text built from the array and the stack — so design stays separate from logic.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3794760"/>
            <a:ext cx="3840480" cy="1874519"/>
          </a:xfrm>
          <a:prstGeom prst="rect">
            <a:avLst/>
          </a:prstGeom>
          <a:solidFill>
            <a:srgbClr val="ECFDF3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1" y="3977639"/>
            <a:ext cx="3429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450" b="1">
                <a:solidFill>
                  <a:srgbClr val="0F7A38"/>
                </a:solidFill>
                <a:latin typeface="Calibri"/>
              </a:rPr>
              <a:t>Good for the demo: </a:t>
            </a:r>
            <a:r>
              <a:rPr sz="1450" b="0">
                <a:solidFill>
                  <a:srgbClr val="1A1A1A"/>
                </a:solidFill>
                <a:latin typeface="Calibri"/>
              </a:rPr>
              <a:t>the page shows the stack itself, with the top marked </a:t>
            </a:r>
            <a:r>
              <a:rPr sz="1450" b="1">
                <a:solidFill>
                  <a:srgbClr val="12356F"/>
                </a:solidFill>
                <a:latin typeface="Calibri"/>
              </a:rPr>
              <a:t>TOP →</a:t>
            </a:r>
            <a:r>
              <a:rPr sz="1450" b="0">
                <a:solidFill>
                  <a:srgbClr val="1A1A1A"/>
                </a:solidFill>
                <a:latin typeface="Calibri"/>
              </a:rPr>
              <a:t>. Delete a student and the record appears on the stack; press Undo and it disappears. The structure is visible on screen.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55F6D"/>
                </a:solidFill>
                <a:latin typeface="Calibri"/>
              </a:rPr>
              <a:t>Every feature was tested in both versions — these are the actual results.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11155678" cy="4123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471"/>
                <a:gridCol w="4312279"/>
                <a:gridCol w="5249731"/>
                <a:gridCol w="1031197"/>
              </a:tblGrid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Expected result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Add a student with a new roll number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Added, array size grows by 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Add a roll number that already exists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Rejected, array unchanged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 bca  in small letters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Finds the student whose course is BCA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Delete a student from the middle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Removed, later records shift left, no gap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Check the stack after deleting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Deleted record shown on top of the stack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Press Undo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Student returns, stack becomes empty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Press Undo with an empty stack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Handled safely, no crash (underflow check)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Delete two students, then undo twice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Restored in reverse order (LIFO)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Sort by name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Anita, Karan, Priya, Ravi — alphabetical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Add a name with a space via the web form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Stored correctly as "Priya Singh"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555F6D"/>
                </a:solidFill>
                <a:latin typeface="Calibri"/>
              </a:rPr>
              <a:t>12 test cases in total (the full table is in the project report) — all passing.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Time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80160"/>
          <a:ext cx="111556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94560"/>
                <a:gridCol w="914400"/>
                <a:gridCol w="914400"/>
                <a:gridCol w="50292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Structures used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Best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Worst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Add student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Array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O(n)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insert is O(1), but the duplicate check is a search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Array + String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O(1)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O(n)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linear search — the whole array in the worst case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Delete student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Array + Stack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O(n)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shifting every element after the deleted one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Push / Pop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Stack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O(1)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O(1)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only the top_ index changes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Undo delete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Stack + Array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O(n)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O(1) pop, then a re-insert that checks duplicates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Sort by name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Array + String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O(n)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Consolas"/>
                        </a:rPr>
                        <a:t>O(n²)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bubble sort with nested loops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138928"/>
            <a:ext cx="5394960" cy="1005840"/>
          </a:xfrm>
          <a:prstGeom prst="rect">
            <a:avLst/>
          </a:prstGeom>
          <a:solidFill>
            <a:srgbClr val="F3F6FB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340096"/>
            <a:ext cx="4983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Space complexity: </a:t>
            </a:r>
            <a:r>
              <a:rPr sz="1550" b="0">
                <a:solidFill>
                  <a:srgbClr val="1A1A1A"/>
                </a:solidFill>
                <a:latin typeface="Calibri"/>
              </a:rPr>
              <a:t>O(n) — one array of 100 records plus one stack of 100 records, allocated once at the 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5138928"/>
            <a:ext cx="5394960" cy="1005840"/>
          </a:xfrm>
          <a:prstGeom prst="rect">
            <a:avLst/>
          </a:prstGeom>
          <a:solidFill>
            <a:srgbClr val="F3F6FB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5340096"/>
            <a:ext cx="4983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Note: </a:t>
            </a:r>
            <a:r>
              <a:rPr sz="1550" b="0">
                <a:solidFill>
                  <a:srgbClr val="1A1A1A"/>
                </a:solidFill>
                <a:latin typeface="Calibri"/>
              </a:rPr>
              <a:t>push and pop are the only O(1) worst case operations — that is the advantage of using a stack for 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Limitations and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55680" cy="4169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760720"/>
              </a:tblGrid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Current limitation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Calibri"/>
                        </a:rPr>
                        <a:t>How it could be improved</a:t>
                      </a:r>
                    </a:p>
                  </a:txBody>
                  <a:tcPr marL="82296" marR="82296" marT="27432" marB="27432" anchor="ctr">
                    <a:solidFill>
                      <a:srgbClr val="12356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Records are lost when the program stops (memory only)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Save to a text or CSV file using file handling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Fixed capacity of 100 students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A dynamic array that doubles in size, or a linked list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Search is a linear scan, O(n)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Keep the array sorted by roll number and use binary search, O(log n)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Bubble sort is O(n²)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Merge sort or quick sort, O(n log n)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Undo covers deletion only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Push every action onto the stack to undo edits as well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The server handles one request at a time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Handle each connection in a separate thread</a:t>
                      </a:r>
                    </a:p>
                  </a:txBody>
                  <a:tcPr marL="82296" marR="82296" marT="27432" marB="27432" anchor="ctr">
                    <a:solidFill>
                      <a:srgbClr val="F3F6FB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No room allocation or waiting list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A1A1A"/>
                          </a:solidFill>
                          <a:latin typeface="Calibri"/>
                        </a:rPr>
                        <a:t>Add a queue for the waiting list — naturally FIFO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The natural next step: </a:t>
            </a:r>
            <a:r>
              <a:rPr sz="1550" b="0">
                <a:solidFill>
                  <a:srgbClr val="1A1A1A"/>
                </a:solidFill>
                <a:latin typeface="Calibri"/>
              </a:rPr>
              <a:t>a queue for the room waiting list. Students should get rooms in the order they applied — First In First Out — just as undo needed Last In First 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Questions You May Be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9FB6E8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1155680" cy="786384"/>
          </a:xfrm>
          <a:prstGeom prst="rect">
            <a:avLst/>
          </a:prstGeom>
          <a:solidFill>
            <a:srgbClr val="F3F6FB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Q.  Why a stack and not a queue?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A.  Undo must reverse the most recent deletion first — LIFO. A queue would undo the oldest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93392"/>
            <a:ext cx="11155680" cy="786384"/>
          </a:xfrm>
          <a:prstGeom prst="rect">
            <a:avLst/>
          </a:prstGeom>
          <a:solidFill>
            <a:srgbClr val="FFFFFF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84832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Q.  Why not use std::vector or std::stack?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10698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A.  The point is to demonstrate the structures, so both are written by hand: count_ for the array, top_ for the stack.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55680" cy="786384"/>
          </a:xfrm>
          <a:prstGeom prst="rect">
            <a:avLst/>
          </a:prstGeom>
          <a:solidFill>
            <a:srgbClr val="F3F6FB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07792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Q.  What happens when you delete from the middle?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00400"/>
            <a:ext cx="10698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A.  Linear search finds the position, the record is pushed, then everything after it shifts one place left. O(n).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39312"/>
            <a:ext cx="11155680" cy="786384"/>
          </a:xfrm>
          <a:prstGeom prst="rect">
            <a:avLst/>
          </a:prstGeom>
          <a:solidFill>
            <a:srgbClr val="FFFFFF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30752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Q.  What are overflow and underflow?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23360"/>
            <a:ext cx="10698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A.  Pushing onto a full stack and popping an empty one. Both are checked before the array is touched.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462272"/>
            <a:ext cx="11155680" cy="786384"/>
          </a:xfrm>
          <a:prstGeom prst="rect">
            <a:avLst/>
          </a:prstGeom>
          <a:solidFill>
            <a:srgbClr val="F3F6FB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53712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Q.  Why does top_ start at -1?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46320"/>
            <a:ext cx="10698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A.  An empty stack has no valid top index, and -1 is just before index 0. It also makes size = top_ + 1.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285232"/>
            <a:ext cx="11155680" cy="786384"/>
          </a:xfrm>
          <a:prstGeom prst="rect">
            <a:avLst/>
          </a:prstGeom>
          <a:solidFill>
            <a:srgbClr val="FFFFFF"/>
          </a:solidFill>
          <a:ln w="15875">
            <a:solidFill>
              <a:srgbClr val="D3D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376672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12356F"/>
                </a:solidFill>
                <a:latin typeface="Calibri"/>
              </a:rPr>
              <a:t>Q.  How does bca match BCA?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69280"/>
            <a:ext cx="10698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A.  Both strings are converted with toLower(), which adds 32 to the ASCII code of capitals, before find() compares them.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F6D"/>
                </a:solidFill>
                <a:latin typeface="Calibri"/>
              </a:rPr>
              <a:t>Ten questions with full answers are in section 9 of the project report.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Hostel Student Management System  |  Array, Stack, String  |  C++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55F6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5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051560"/>
            <a:ext cx="50292" cy="77724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2395728"/>
            <a:ext cx="73152" cy="7315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81328" y="228600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Array</a:t>
            </a:r>
            <a:r>
              <a:rPr sz="1900" b="0">
                <a:solidFill>
                  <a:srgbClr val="C3D2F0"/>
                </a:solidFill>
                <a:latin typeface="Calibri"/>
              </a:rPr>
              <a:t> — indexed storage of the records, with insert, linear search and delete-with-shift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3054096"/>
            <a:ext cx="73152" cy="7315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2944368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Stack</a:t>
            </a:r>
            <a:r>
              <a:rPr sz="1900" b="0">
                <a:solidFill>
                  <a:srgbClr val="C3D2F0"/>
                </a:solidFill>
                <a:latin typeface="Calibri"/>
              </a:rPr>
              <a:t> — the undo history, chosen because undo is inherently Last In First 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712464"/>
            <a:ext cx="73152" cy="7315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602736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String</a:t>
            </a:r>
            <a:r>
              <a:rPr sz="1900" b="0">
                <a:solidFill>
                  <a:srgbClr val="C3D2F0"/>
                </a:solidFill>
                <a:latin typeface="Calibri"/>
              </a:rPr>
              <a:t> — case-insensitive search and alphabetical sorting through character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4805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C3D2F0"/>
                </a:solidFill>
                <a:latin typeface="Calibri"/>
              </a:rPr>
              <a:t>All three are implemented from first principles, and the same logic is exposed through two interfaces — a console menu and a browser page — which shows that the data structure code is independent of how it is presented.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5623560"/>
            <a:ext cx="9875520" cy="1828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FB6E8"/>
                </a:solidFill>
                <a:latin typeface="Calibri"/>
              </a:rPr>
              <a:t>Everything lives in one header, </a:t>
            </a:r>
            <a:r>
              <a:rPr sz="1600" b="1">
                <a:solidFill>
                  <a:srgbClr val="FFFFFF"/>
                </a:solidFill>
                <a:latin typeface="Calibri"/>
              </a:rPr>
              <a:t>src/hostel.h</a:t>
            </a:r>
            <a:r>
              <a:rPr sz="1600" b="0">
                <a:solidFill>
                  <a:srgbClr val="9FB6E8"/>
                </a:solidFill>
                <a:latin typeface="Calibri"/>
              </a:rPr>
              <a:t> — ready to reuse in a larger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